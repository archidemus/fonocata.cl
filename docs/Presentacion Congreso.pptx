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37160" cy="5303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Nunito"/>
              </a:defRPr>
            </a:pPr>
            <a:r>
              <a:t>CONGRESO IBEROAMERICANO DE VOZ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E293B"/>
                </a:solidFill>
                <a:latin typeface="Nunito"/>
              </a:defRPr>
            </a:pPr>
            <a:r>
              <a:t>Disfonía en</a:t>
            </a:r>
            <a:br/>
            <a:r>
              <a:t>Contextos Paliativos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¿Qué dice la evidencia y la experiencia?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846320"/>
            <a:ext cx="274320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4572000" cy="1097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Catalina Orellana Molnar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5321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5CF6"/>
                </a:solidFill>
                <a:latin typeface="Inter"/>
              </a:defRPr>
            </a:pPr>
            <a:r>
              <a:t>Fonoaudióloga, CPU Providencia — Santiago de Chile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7607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nter"/>
              </a:defRPr>
            </a:pPr>
            <a:r>
              <a:t>fonocata.cl | @fonocata.cl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207007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8412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Nunito"/>
              </a:defRPr>
            </a:pPr>
            <a:r>
              <a:t>Contenidos de la Presentación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unit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2880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Contexto y Motivación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031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CPU en Chile, rol del fonoaudiólogo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unit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5176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Fisiopatología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2608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Sarcopenia, disfagia, disfonía y función pulmonar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20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unit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747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Evidencia Científica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74904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Prevalencia, datos clínicos, biomarcadores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unito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29768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Abordaje Terapéutico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7200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Del rehabilitar al acompañar: estrategias compensatorias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1663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unito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12064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Conclusiones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949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Inter"/>
              </a:defRPr>
            </a:pPr>
            <a:r>
              <a:t>Síntesis y proyecciones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B5FD"/>
                </a:solidFill>
                <a:latin typeface="Nunito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011680" cy="127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Nunito"/>
              </a:defRPr>
            </a:pPr>
            <a:r>
              <a:t>Contexto y Motivación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5FD"/>
                </a:solidFill>
                <a:latin typeface="Inter"/>
              </a:defRPr>
            </a:pPr>
            <a:r>
              <a:t>¿Por qué hablar de voz en cuidados paliativos?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Cuidados Paliativos Universales en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0584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  <a:latin typeface="Inter"/>
              </a:defRPr>
            </a:pPr>
            <a:r>
              <a:t>• Ley 21.375: acceso a cuidados paliativos para toda persona con enfermedad terminal o grave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Atención fonoaudiológica como parte del abordaje multidisciplinario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Objetivo: alivio del sufrimiento multidimensional, calidad de vida y dignidad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293B"/>
                </a:solidFill>
                <a:latin typeface="Inter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1E293B"/>
                </a:solidFill>
                <a:latin typeface="Nunito"/>
              </a:defRPr>
            </a:pPr>
            <a:r>
              <a:t>Rol del fonoaudiólogo en CPU: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Evaluación y manejo de disfagia orofaríngea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Optimización de la comunicación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Acompañamiento a familias y cuidadores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Educación a equipos de salud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293B"/>
                </a:solidFill>
                <a:latin typeface="Inter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>
                <a:solidFill>
                  <a:srgbClr val="475569"/>
                </a:solidFill>
                <a:latin typeface="Inter"/>
              </a:defRPr>
            </a:pPr>
            <a:r>
              <a:t>"El manejo de la voz y la comunicación no busca rehabilitar, sino minimizar el sufrimiento, propiciar dignidad y mantener al paciente como centro de las decisiones."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1">
                <a:solidFill>
                  <a:srgbClr val="7C3AED"/>
                </a:solidFill>
                <a:latin typeface="Inter"/>
              </a:defRPr>
            </a:pPr>
            <a:r>
              <a:t>— Moreira et al. (2020), CoDAS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B5FD"/>
                </a:solidFill>
                <a:latin typeface="Nunito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011680" cy="127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Nunito"/>
              </a:defRPr>
            </a:pPr>
            <a:r>
              <a:t>La Voz como Espejo del Cuerpo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5FD"/>
                </a:solidFill>
                <a:latin typeface="Inter"/>
              </a:defRPr>
            </a:pPr>
            <a:r>
              <a:t>Fisiopatología integrada: sarcopenia, disfagia y disfonía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FISIOPATOLOGÍA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El Triángulo de la Fragilidad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206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0116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Disfonía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3774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• TMF drásticamente reducido</a:t>
            </a:r>
            <a:br/>
            <a:r>
              <a:t>• Voz soplada y fatiga vocal</a:t>
            </a:r>
            <a:br/>
            <a:r>
              <a:t>• Cierre glótico incompetente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37360"/>
            <a:ext cx="51206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🍽️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Disfagia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37744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• Retraso en reflejo deglutorio</a:t>
            </a:r>
            <a:br/>
            <a:r>
              <a:t>• Falla en protección de vía aérea</a:t>
            </a:r>
            <a:br/>
            <a:r>
              <a:t>• Tos ineficaz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2062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06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Sarcopenia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72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• Pérdida de masa y fuerza muscular</a:t>
            </a:r>
            <a:br/>
            <a:r>
              <a:t>• Afecta músculos laríngeos</a:t>
            </a:r>
            <a:br/>
            <a:r>
              <a:t>• Disminuye elevación laríngea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5120640" cy="19202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420624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062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Consecuencia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720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• Neumonía por aspiración</a:t>
            </a:r>
            <a:br/>
            <a:r>
              <a:t>• Pérdida de autonomía comunicativa</a:t>
            </a:r>
            <a:br/>
            <a:r>
              <a:t>• Aislamiento y sufrimiento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FISIOPATOLOGÍA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Nunito"/>
              </a:defRPr>
            </a:pPr>
            <a:r>
              <a:t>Deterioro Respiratorio y Voz: Patologías Crónicas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4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4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EPOC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4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Atrapamiento aéreo</a:t>
            </a:r>
            <a:br/>
            <a:r>
              <a:t>• Sarcopenia 21.6%</a:t>
            </a:r>
            <a:br/>
            <a:r>
              <a:t>• TMF reducido</a:t>
            </a:r>
            <a:br/>
            <a:r>
              <a:t>• Voz áspera, frases cortas</a:t>
            </a:r>
            <a:br/>
            <a:r>
              <a:t>• TMF ≤12.5s → CVF &lt;80%</a:t>
            </a:r>
            <a:br/>
            <a:r>
              <a:t>  (Feltrin, 2026)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23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12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12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2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Fibrosis Pulmonar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2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Pulmones rígidos</a:t>
            </a:r>
            <a:br/>
            <a:r>
              <a:t>• Volúmenes restrictivos</a:t>
            </a:r>
            <a:br/>
            <a:r>
              <a:t>• Voz baja intensidad</a:t>
            </a:r>
            <a:br/>
            <a:r>
              <a:t>• Habla jadeante</a:t>
            </a:r>
            <a:br/>
            <a:r>
              <a:t>• Claudicación por hipoxia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31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20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2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20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ICC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20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Edema pulmonar</a:t>
            </a:r>
            <a:br/>
            <a:r>
              <a:t>• Tasa de pausas +14.9%</a:t>
            </a:r>
            <a:br/>
            <a:r>
              <a:t>  (Schöbi, 2022)</a:t>
            </a:r>
            <a:br/>
            <a:r>
              <a:t>• Correlación con NT-proBNP</a:t>
            </a:r>
            <a:br/>
            <a:r>
              <a:t>• Biomarcador de</a:t>
            </a:r>
            <a:br/>
            <a:r>
              <a:t>  descompensación</a:t>
            </a:r>
            <a:br/>
            <a:r>
              <a:t>  (Bauser, 2025, SR)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FISIOPATOLOGÍA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Nunito"/>
              </a:defRPr>
            </a:pPr>
            <a:r>
              <a:t>Deterioro Respiratorio y Voz: Neurodegenerativas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4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4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Parkinson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4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CV reducida (SMD 0.75)</a:t>
            </a:r>
            <a:br/>
            <a:r>
              <a:t>• PIM reducida (SMD 0.91)</a:t>
            </a:r>
            <a:br/>
            <a:r>
              <a:t>  (McMahon, 2023, SR/MA)</a:t>
            </a:r>
            <a:br/>
            <a:r>
              <a:t>• 89% desarrolla disartria</a:t>
            </a:r>
            <a:br/>
            <a:r>
              <a:t>  (Yuan, 2020, SR/MA)</a:t>
            </a:r>
            <a:br/>
            <a:r>
              <a:t>• Voz monótona, intensidad ↓</a:t>
            </a:r>
            <a:br/>
            <a:r>
              <a:t>• Evidencia fuerte: LSVT LOUD</a:t>
            </a:r>
            <a:br/>
            <a:r>
              <a:t>  (Perry, 2024, SR)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23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12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12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2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2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25% disfunción bulbar</a:t>
            </a:r>
            <a:br/>
            <a:r>
              <a:t>  al diagnóstico</a:t>
            </a:r>
            <a:br/>
            <a:r>
              <a:t>  (Bowden, 2023, SR)</a:t>
            </a:r>
            <a:br/>
            <a:r>
              <a:t>• Jitter/Shimmer ↑, TMF ↓</a:t>
            </a:r>
            <a:br/>
            <a:r>
              <a:t>  (Chiaramonte, 2020, SR/MA)</a:t>
            </a:r>
            <a:br/>
            <a:r>
              <a:t>• Compromiso dual:</a:t>
            </a:r>
            <a:br/>
            <a:r>
              <a:t>  diafragma + bulbar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3120" y="1828800"/>
            <a:ext cx="32918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2080" y="21031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20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208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Nunito"/>
              </a:defRPr>
            </a:pPr>
            <a:r>
              <a:t>Demencia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2080" y="3200400"/>
            <a:ext cx="283464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Tasa de habla e</a:t>
            </a:r>
            <a:br/>
            <a:r>
              <a:t>  interrupciones alteradas</a:t>
            </a:r>
            <a:br/>
            <a:r>
              <a:t>  (Saeedi, 2024, SR/MA)</a:t>
            </a:r>
            <a:br/>
            <a:r>
              <a:t>• Fluencia ↓ en Alzheimer</a:t>
            </a:r>
            <a:br/>
            <a:r>
              <a:t>  (Olmos-Villaseñor, 2023)</a:t>
            </a:r>
            <a:br/>
            <a:r>
              <a:t>• Pérdida progresiva del</a:t>
            </a:r>
            <a:br/>
            <a:r>
              <a:t>  lenguaje → aislamiento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FISIOPATOLOGÍA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Presbifonía, Sarcopenia y Caquexia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00584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Nunito"/>
              </a:defRPr>
            </a:pPr>
            <a:r>
              <a:t>Evidencia del deterioro integrado: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Déficit respiratorio es el perfil más frecuente asociado a disfonía en ≥65 años (37%) — Vaca et al., 2015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Cuando coexisten déficit respiratorio y glótico: TMF hombres 8.5s, mujeres 7.8s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Sarcopenia en EPOC: prevalencia 21.6% (63% en residencias) — Benz et al., 2019, SR/MA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Pérdida muscular → mortalidad respiratoria RR 1.36 — Zhou et al., 2023, SR/MA (n=878.349)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Presbifonía afecta 10-20% de adultos mayores (Galluzzi, 2018, SR); 17.8% de disfonías (Chang, 2023, SR/MA)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• Expansión torácica y TMF predicen aspiración — Yamaguchi et al., 2018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1E293B"/>
                </a:solidFill>
                <a:latin typeface="Inter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7C3AED"/>
                </a:solidFill>
                <a:latin typeface="Inter"/>
              </a:defRPr>
            </a:pPr>
            <a:r>
              <a:t>La disfonía en paliativos no es solo un 'problema de cuerdas vocales': es el reflejo de un desgaste sistémico.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B5FD"/>
                </a:solidFill>
                <a:latin typeface="Nunito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011680" cy="127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Nunito"/>
              </a:defRPr>
            </a:pPr>
            <a:r>
              <a:t>Evidencia Científica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5FD"/>
                </a:solidFill>
                <a:latin typeface="Inter"/>
              </a:defRPr>
            </a:pPr>
            <a:r>
              <a:t>Prevalencia, datos clínicos y biomarcadores vocales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09728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La Voz al Final de la Vida: Evidencia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047" y="2011680"/>
            <a:ext cx="32918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Nunito"/>
              </a:defRPr>
            </a:pPr>
            <a:r>
              <a:t>77.8%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6767" y="3566160"/>
            <a:ext cx="731520" cy="457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047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Inter"/>
              </a:defRPr>
            </a:pPr>
            <a:r>
              <a:t>Pacientes en fin de vida</a:t>
            </a:r>
            <a:br/>
            <a:r>
              <a:t>con CCyC: alteraciones</a:t>
            </a:r>
            <a:br/>
            <a:r>
              <a:t>vocales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5647" y="2011680"/>
            <a:ext cx="32918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5647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  <a:latin typeface="Nunito"/>
              </a:defRPr>
            </a:pPr>
            <a:r>
              <a:t>89%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4367" y="3566160"/>
            <a:ext cx="731520" cy="4572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647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Inter"/>
              </a:defRPr>
            </a:pPr>
            <a:r>
              <a:t>Parkinson: desarrolla</a:t>
            </a:r>
            <a:br/>
            <a:r>
              <a:t>disartria hipocinética</a:t>
            </a:r>
            <a:br/>
            <a:r>
              <a:t>(Yuan, 2020, SR/MA)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247" y="2011680"/>
            <a:ext cx="32918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3247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A8D4"/>
                </a:solidFill>
                <a:latin typeface="Nunito"/>
              </a:defRPr>
            </a:pPr>
            <a:r>
              <a:t>27.8%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1967" y="3566160"/>
            <a:ext cx="731520" cy="45720"/>
          </a:xfrm>
          <a:prstGeom prst="round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3247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Inter"/>
              </a:defRPr>
            </a:pPr>
            <a:r>
              <a:t>Solo este % tuvo</a:t>
            </a:r>
            <a:br/>
            <a:r>
              <a:t>indicación médica para</a:t>
            </a:r>
            <a:br/>
            <a:r>
              <a:t>fonoaudiología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Inter"/>
              </a:defRPr>
            </a:pPr>
            <a:r>
              <a:t>La brecha: alta prevalencia vs. baja derivación al especialista (Aquino et al., 2016)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EVIDENCIA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Nunito"/>
              </a:defRPr>
            </a:pPr>
            <a:r>
              <a:t>Experiencia Clínica: Providencia APS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640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00"/>
                <a:gridCol w="1280000"/>
                <a:gridCol w="1280000"/>
                <a:gridCol w="1280000"/>
                <a:gridCol w="1280000"/>
              </a:tblGrid>
              <a:tr h="32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Diagnóstico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Leng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Aguilucho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Alessandri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Disfonía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Disartria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Parkinson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Demencia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285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EPOC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Insuf. cardíaca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Fibrosis pulmonar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202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579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00000" y="1828800"/>
            <a:ext cx="4200000" cy="32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0000" y="2000000"/>
            <a:ext cx="370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Nunito"/>
              </a:defRPr>
            </a:pPr>
            <a:r>
              <a:t>Lectura clave: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Demencia: 49.2% (#1)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Disartria: 16.4% (#2)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Parkinson: 6.4% (#3)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IC + EPOC: 10.7% (compromiso respiratorio)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300" b="0">
                <a:solidFill>
                  <a:srgbClr val="334155"/>
                </a:solidFill>
                <a:latin typeface="Inter"/>
              </a:defRPr>
            </a:pPr>
            <a:r>
              <a:t>• 12 disfonías como dx principal → subrepresenta prevalencia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EVIDENCIA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La Voz como Biomarcador Clínico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731520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La Voz Húmeda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Inter"/>
              </a:defRPr>
            </a:pPr>
            <a:r>
              <a:t>• Evaluación instrumental inviable en CP</a:t>
            </a:r>
            <a:br/>
            <a:r>
              <a:t>• Voz húmeda = riesgo de aspiración</a:t>
            </a:r>
            <a:br/>
            <a:r>
              <a:t>• Biomarcador para ajustar dietas</a:t>
            </a:r>
            <a:br/>
            <a:r>
              <a:t>• Herramienta de supervivencia y confort</a:t>
            </a:r>
            <a:br/>
            <a:br/>
            <a:r>
              <a:t>(Santos et al., 2020)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731520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Nunito"/>
              </a:defRPr>
            </a:pPr>
            <a:r>
              <a:t>Impacto en Calidad de Vida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Inter"/>
              </a:defRPr>
            </a:pPr>
            <a:r>
              <a:t>• Pérdida de capacidad para:</a:t>
            </a:r>
            <a:br/>
            <a:r>
              <a:t>  - Tomar decisiones</a:t>
            </a:r>
            <a:br/>
            <a:r>
              <a:t>  - Expresar dolor</a:t>
            </a:r>
            <a:br/>
            <a:r>
              <a:t>  - Conectar emocionalmente</a:t>
            </a:r>
            <a:br/>
            <a:r>
              <a:t>• Adaptación temprana reduce sufrimiento</a:t>
            </a:r>
            <a:br/>
            <a:r>
              <a:t>• Comunicación = autonomía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2011680"/>
            <a:ext cx="73152" cy="2743200"/>
          </a:xfrm>
          <a:prstGeom prst="round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0116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Nunito"/>
              </a:defRPr>
            </a:pPr>
            <a:r>
              <a:t>"Las contribuciones de la Fonoaudiología en los cuidados paliativos y al final de la vida buscan minimizar el sufrimiento, propiciar dignidad y mantener al paciente como centro de las decisiones."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Inter"/>
              </a:defRPr>
            </a:pPr>
            <a:r>
              <a:t>— Moreira et al. (2020). CoDAS, 32(3), e20190202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200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4B5FD"/>
                </a:solidFill>
                <a:latin typeface="Inter"/>
              </a:defRPr>
            </a:pPr>
            <a:r>
              <a:t>Posicionamiento del Departamento de Voz y Fononcología — Sociedad Brasileña de Fonoaudiología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4B5FD"/>
                </a:solidFill>
                <a:latin typeface="Nunito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2011680" cy="127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Nunito"/>
              </a:defRPr>
            </a:pPr>
            <a:r>
              <a:t>Del Rehabilitar al Acompañar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4B5FD"/>
                </a:solidFill>
                <a:latin typeface="Inter"/>
              </a:defRPr>
            </a:pPr>
            <a:r>
              <a:t>Estrategias terapéuticas en contextos paliativos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ABORDAJE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De la Rehabilitación a la Compensación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Inter"/>
              </a:defRPr>
            </a:pPr>
            <a:r>
              <a:t>Los ejercicios de fortalecimiento y sobreesfuerzo vocal son ineficaces y aumentan la fatiga en etapas avanzadas.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0000"/>
            <a:ext cx="3291840" cy="38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480" y="22800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480" y="2280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480" y="2870000"/>
            <a:ext cx="28346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Conservación</a:t>
            </a:r>
            <a:br/>
            <a:r>
              <a:t>de Energía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480" y="3370000"/>
            <a:ext cx="28346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Economía vocal</a:t>
            </a:r>
            <a:br/>
            <a:r>
              <a:t>• Ajustes posturales</a:t>
            </a:r>
            <a:br/>
            <a:r>
              <a:t>• Adaptaciones ambientales</a:t>
            </a:r>
            <a:br/>
            <a:r>
              <a:t>• Reducir demanda sobre</a:t>
            </a:r>
            <a:br/>
            <a:r>
              <a:t>  sistema comprometido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2320" y="2100000"/>
            <a:ext cx="3291840" cy="38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1280" y="22800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1280" y="2280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1280" y="2870000"/>
            <a:ext cx="28346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Amplificadores</a:t>
            </a:r>
            <a:br/>
            <a:r>
              <a:t>de Voz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1280" y="3370000"/>
            <a:ext cx="28346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Uso temprano</a:t>
            </a:r>
            <a:br/>
            <a:r>
              <a:t>• Inteligibilidad sin esfuerzo</a:t>
            </a:r>
            <a:br/>
            <a:r>
              <a:t>• Respetan el confort</a:t>
            </a:r>
            <a:br/>
            <a:r>
              <a:t>• Transición suave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3120" y="2100000"/>
            <a:ext cx="3291840" cy="38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02080" y="22800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2080" y="2280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E293B"/>
                </a:solidFill>
                <a:latin typeface="Inter"/>
              </a:defRPr>
            </a:pPr>
            <a:r>
              <a:t>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2080" y="2870000"/>
            <a:ext cx="283464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Nunito"/>
              </a:defRPr>
            </a:pPr>
            <a:r>
              <a:t>SAAC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2080" y="3370000"/>
            <a:ext cx="283464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Inter"/>
              </a:defRPr>
            </a:pPr>
            <a:r>
              <a:t>• Comunicación Aumentativa</a:t>
            </a:r>
            <a:br/>
            <a:r>
              <a:t>• Introducción temprana</a:t>
            </a:r>
            <a:br/>
            <a:r>
              <a:t>• Expresar voluntades</a:t>
            </a:r>
            <a:br/>
            <a:r>
              <a:t>  y dolores</a:t>
            </a:r>
            <a:br/>
            <a:r>
              <a:t>• Reducen carga fonatoria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Síntesis y Proyecciones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00000"/>
            <a:ext cx="100584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4155"/>
                </a:solidFill>
                <a:latin typeface="Inter"/>
              </a:defRPr>
            </a:pPr>
            <a:r>
              <a:t>1. La disfonía es altamente prevalente en CP y frecuentemente se subdiagnostica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2. No es un problema de cuerdas vocales: es el reflejo del desgaste sistémico (sarcopenia, caquexia, debilidad adquirida)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3. El paradigma debe cambiar: de rehabilitación anatómica → optimización funcional, confort y dignidad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4. La voz es un biomarcador clínico: cambios acústicos alertan sobre riesgo de aspiración y descompensación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5. La derivación temprana al fonoaudiólogo salva vidas: brecha prevalencia (77.8%) vs. derivación (27.8%)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 b="0">
                <a:solidFill>
                  <a:srgbClr val="334155"/>
                </a:solidFill>
                <a:latin typeface="Inter"/>
              </a:defRPr>
            </a:pPr>
            <a:r>
              <a:t>6. La comunicación es autonomía: mantener la voz = mantener al paciente como centro de las decisiones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1E293B"/>
                </a:solidFill>
                <a:latin typeface="Inter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1">
                <a:solidFill>
                  <a:srgbClr val="7C3AED"/>
                </a:solidFill>
                <a:latin typeface="Nunito"/>
              </a:defRPr>
            </a:pPr>
            <a:r>
              <a:t>Proyecciones: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Inter"/>
              </a:defRPr>
            </a:pPr>
            <a:r>
              <a:t>• Más investigación iberoamericana en voz y paliativos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Inter"/>
              </a:defRPr>
            </a:pPr>
            <a:r>
              <a:t>• Integrar screening vocal en equipos de CPU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334155"/>
                </a:solidFill>
                <a:latin typeface="Inter"/>
              </a:defRPr>
            </a:pPr>
            <a:r>
              <a:t>• Formación en voz paliativa en pregrado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48495" y="-9144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1316736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457200"/>
            <a:ext cx="137160" cy="137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048"/>
            <a:ext cx="950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Nunito"/>
              </a:defRPr>
            </a:pPr>
            <a:r>
              <a:t>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Nunito"/>
              </a:defRPr>
            </a:pPr>
            <a:r>
              <a:t>Bibliografía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01168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728655" cy="4114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000"/>
            <a:ext cx="10100000" cy="3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Inter"/>
              </a:defRPr>
            </a:pPr>
            <a:r>
              <a:t>Moreira et al. (2020). CoDAS, 32(3), e20190202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Aquino et al. (2016). Rev CEFAC, 18(3), 737-745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Santos et al. (2020). Audiol Commun Res, 25, e2262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Silva et al. (2017). Rev CEFAC, 19(6), 879-888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Benz et al. (2019). Eur Respir Rev, 28(154), 190049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Sepúlveda-Loyola et al. (2020). J Cachexia Sarcopenia Muscle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Zhou et al. (2023). J Cachexia Sarcopenia Muscle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Vaca et al. (2015). Otolaryngol HNS, 153(3), 409-413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Kiliç &amp; Kiliç (2023). Turkish J ENT, 33(3), 96-103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Yamaguchi et al. (2018). Auris Nasus Larynx, 45(3), 533-539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Feltrin et al. (2026). J Voice, 40(3), 925.e1-925.e8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Galluzzi &amp; Garavello (2018). Eur Geriatr Med — SR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Chang et al. (2023). Am J Speech Lang Pathol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Desjardins &amp; Bonilha (2020). J Voice — SR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Bauser et al. (2025). Circ Heart Fail — SR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Schöbi et al. (2022). JAHA, 11(21), e027023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McMahon et al. (2023). Eur J Neurol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Perry et al. (2024). Am J Speech Lang Pathol — SR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Yuan et al. (2020). Eur J Neurol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Chiaramonte &amp; Bonfiglio (2020). Logoped Phoniatr Vocol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Bowden et al. (2023). NPJ Digit Med — SR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Saeedi et al. (2024). J Prev Alzheimers Dis — SR/MA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475569"/>
                </a:solidFill>
                <a:latin typeface="Inter"/>
              </a:defRPr>
            </a:pPr>
            <a:r>
              <a:t>Olmos-Villaseñor et al. (2023). J Alzheimers Dis — SR/MA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0000"/>
            <a:ext cx="1072865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Inter"/>
              </a:defRPr>
            </a:pPr>
            <a:r>
              <a:t>Todas las referencias verificadas en PubMed — junio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Catalina Orellana M. | Fonoaudióloga | fonocata.cl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nter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48495" y="-1828800"/>
            <a:ext cx="4572000" cy="457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4114800"/>
            <a:ext cx="3657600" cy="3657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Nunito"/>
              </a:defRPr>
            </a:pPr>
            <a:r>
              <a:t>¡Gracias!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4B5FD"/>
                </a:solidFill>
                <a:latin typeface="Nunito"/>
              </a:defRPr>
            </a:pPr>
            <a:r>
              <a:t>Catalina Orellana Molnar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011680" cy="12700"/>
          </a:xfrm>
          <a:prstGeom prst="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📧  catalina.orellanamol@gmail.com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📱  +56 9 5632 0835 (WhatsApp)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🌐  fonocata.cl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📸  @fonocata.cl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695" y="5943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5FD"/>
                </a:solidFill>
                <a:latin typeface="Inter"/>
              </a:defRPr>
            </a:pPr>
            <a:r>
              <a:t>Congreso Iberoamericano de Voz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